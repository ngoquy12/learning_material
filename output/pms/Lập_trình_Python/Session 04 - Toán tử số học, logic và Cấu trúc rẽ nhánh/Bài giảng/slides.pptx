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274320" cy="2743200"/>
          </a:xfrm>
          <a:prstGeom prst="rect">
            <a:avLst/>
          </a:prstGeom>
          <a:solidFill>
            <a:srgbClr val="BE11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BE111C"/>
                </a:solidFill>
                <a:latin typeface="Montserrat"/>
              </a:defRPr>
            </a:pPr>
            <a:r>
              <a:t>Session 04: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Montserrat"/>
              </a:defRPr>
            </a:pPr>
            <a:r>
              <a:t>Toán tử số học, logic và Cấu trúc rẽ nhánh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Arial"/>
              </a:defRPr>
            </a:pPr>
            <a:r>
              <a:t>Môn học: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6400800"/>
            <a:ext cx="6705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© 2026 By Rikkei Education - All rights reserved.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11277295" y="5943600"/>
            <a:ext cx="914400" cy="914400"/>
          </a:xfrm>
          <a:prstGeom prst="rtTriangle">
            <a:avLst/>
          </a:prstGeom>
          <a:solidFill>
            <a:srgbClr val="BE11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0" y="612648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BE111C"/>
                </a:solidFill>
                <a:latin typeface="Montserrat"/>
              </a:defRPr>
            </a:pPr>
            <a:r>
              <a:t>NỘI DUNG BÀI HỌC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200" b="1">
                <a:solidFill>
                  <a:srgbClr val="0F172A"/>
                </a:solidFill>
                <a:latin typeface="Arial"/>
              </a:defRPr>
            </a:pPr>
            <a:r>
              <a:t>1.  (Session 04 - Toán tử số học, logic và Cấu trúc rẽ nhánh):</a:t>
            </a:r>
          </a:p>
          <a:p>
            <a:pPr>
              <a:spcAft>
                <a:spcPts val="2200"/>
              </a:spcAft>
              <a:defRPr sz="2200" b="1">
                <a:solidFill>
                  <a:srgbClr val="0F172A"/>
                </a:solidFill>
                <a:latin typeface="Arial"/>
              </a:defRPr>
            </a:pPr>
            <a:r>
              <a:t>2.  Cấu trúc rẽ nhánh lồng nhau và Chuẩn hóa mã nguồn PEP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6400800"/>
            <a:ext cx="6705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© 2026 By Rikkei Education - All rights reserved.</a:t>
            </a:r>
          </a:p>
        </p:txBody>
      </p:sp>
      <p:sp>
        <p:nvSpPr>
          <p:cNvPr id="5" name="Right Triangle 4"/>
          <p:cNvSpPr/>
          <p:nvPr/>
        </p:nvSpPr>
        <p:spPr>
          <a:xfrm rot="10800000">
            <a:off x="11277295" y="5943600"/>
            <a:ext cx="914400" cy="914400"/>
          </a:xfrm>
          <a:prstGeom prst="rtTriangle">
            <a:avLst/>
          </a:prstGeom>
          <a:solidFill>
            <a:srgbClr val="BE11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12648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BE111C"/>
                </a:solidFill>
                <a:latin typeface="Montserrat"/>
              </a:defRPr>
            </a:pPr>
            <a:r>
              <a:t>1. (Session 04 - Toán tử số học, logic và Cấu trúc rẽ nhánh): - 1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Bối cảnh dự án &amp; vấn đề cần giải quyết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297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Arial"/>
              </a:defRPr>
            </a:pPr>
            <a:r>
              <a:t>Nguyên lý &amp; Quy chuẩn thực thi</a:t>
            </a:r>
          </a:p>
          <a:p>
            <a:br/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• Nắm vững các bước thao tác thực chiến.</a:t>
            </a:r>
            <a:br/>
            <a:r>
              <a:t>• Tuân thủ nguyên tắc an toàn và kiểm thử mã nguồn trước khi commit.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297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F1F5F9"/>
                </a:solidFill>
                <a:latin typeface="Consolas"/>
              </a:defRPr>
            </a:pPr>
            <a:r>
              <a:t># Thực thi lệnh thực chiến</a:t>
            </a:r>
            <a:br/>
            <a:r>
              <a:t>$ git status</a:t>
            </a:r>
            <a:br/>
            <a:r>
              <a:t>$ git add .</a:t>
            </a:r>
            <a:br/>
            <a:r>
              <a:t>$ git commit -m 'feat: update module'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6400800"/>
            <a:ext cx="6705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© 2026 By Rikkei Education - All rights reserved.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11277295" y="5943600"/>
            <a:ext cx="914400" cy="914400"/>
          </a:xfrm>
          <a:prstGeom prst="rtTriangle">
            <a:avLst/>
          </a:prstGeom>
          <a:solidFill>
            <a:srgbClr val="BE11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0" y="612648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BE111C"/>
                </a:solidFill>
                <a:latin typeface="Montserrat"/>
              </a:defRPr>
            </a:pPr>
            <a:r>
              <a:t>1. (Session 04 - Toán tử số học, logic và Cấu trúc rẽ nhánh): - 2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Sơ đồ kiến trúc &amp; quy trình vận hành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297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Arial"/>
              </a:defRPr>
            </a:pPr>
            <a:r>
              <a:t>Nguyên lý &amp; Quy chuẩn thực thi</a:t>
            </a:r>
          </a:p>
          <a:p>
            <a:br/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• Nắm vững các bước thao tác thực chiến.</a:t>
            </a:r>
            <a:br/>
            <a:r>
              <a:t>• Tuân thủ nguyên tắc an toàn và kiểm thử mã nguồn trước khi commit.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297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F1F5F9"/>
                </a:solidFill>
                <a:latin typeface="Consolas"/>
              </a:defRPr>
            </a:pPr>
            <a:r>
              <a:t># Thực thi lệnh thực chiến</a:t>
            </a:r>
            <a:br/>
            <a:r>
              <a:t>$ git status</a:t>
            </a:r>
            <a:br/>
            <a:r>
              <a:t>$ git add .</a:t>
            </a:r>
            <a:br/>
            <a:r>
              <a:t>$ git commit -m 'feat: update module'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6400800"/>
            <a:ext cx="6705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© 2026 By Rikkei Education - All rights reserved.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11277295" y="5943600"/>
            <a:ext cx="914400" cy="914400"/>
          </a:xfrm>
          <a:prstGeom prst="rtTriangle">
            <a:avLst/>
          </a:prstGeom>
          <a:solidFill>
            <a:srgbClr val="BE11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0" y="612648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BE111C"/>
                </a:solidFill>
                <a:latin typeface="Montserrat"/>
              </a:defRPr>
            </a:pPr>
            <a:r>
              <a:t>1. (Session 04 - Toán tử số học, logic và Cấu trúc rẽ nhánh): - 3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Lỗi thường gặp &amp; cách xử lý chuẩn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297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Arial"/>
              </a:defRPr>
            </a:pPr>
            <a:r>
              <a:t>Nguyên lý &amp; Quy chuẩn thực thi</a:t>
            </a:r>
          </a:p>
          <a:p>
            <a:br/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• Nắm vững các bước thao tác thực chiến.</a:t>
            </a:r>
            <a:br/>
            <a:r>
              <a:t>• Tuân thủ nguyên tắc an toàn và kiểm thử mã nguồn trước khi commit.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297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F1F5F9"/>
                </a:solidFill>
                <a:latin typeface="Consolas"/>
              </a:defRPr>
            </a:pPr>
            <a:r>
              <a:t># Thực thi lệnh thực chiến</a:t>
            </a:r>
            <a:br/>
            <a:r>
              <a:t>$ git status</a:t>
            </a:r>
            <a:br/>
            <a:r>
              <a:t>$ git add .</a:t>
            </a:r>
            <a:br/>
            <a:r>
              <a:t>$ git commit -m 'feat: update module'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6400800"/>
            <a:ext cx="6705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© 2026 By Rikkei Education - All rights reserved.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11277295" y="5943600"/>
            <a:ext cx="914400" cy="914400"/>
          </a:xfrm>
          <a:prstGeom prst="rtTriangle">
            <a:avLst/>
          </a:prstGeom>
          <a:solidFill>
            <a:srgbClr val="BE11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0" y="612648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BE111C"/>
                </a:solidFill>
                <a:latin typeface="Montserrat"/>
              </a:defRPr>
            </a:pPr>
            <a:r>
              <a:t>2. Cấu trúc rẽ nhánh lồng nhau và Chuẩn hóa mã nguồn PEP 8 - 1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Bối cảnh dự án &amp; vấn đề cần giải quyết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297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Arial"/>
              </a:defRPr>
            </a:pPr>
            <a:r>
              <a:t>Nguyên lý &amp; Quy chuẩn thực thi</a:t>
            </a:r>
          </a:p>
          <a:p>
            <a:br/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• Nắm vững các bước thao tác thực chiến.</a:t>
            </a:r>
            <a:br/>
            <a:r>
              <a:t>• Tuân thủ nguyên tắc an toàn và kiểm thử mã nguồn trước khi commit.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297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F1F5F9"/>
                </a:solidFill>
                <a:latin typeface="Consolas"/>
              </a:defRPr>
            </a:pPr>
            <a:r>
              <a:t># Thực thi lệnh thực chiến</a:t>
            </a:r>
            <a:br/>
            <a:r>
              <a:t>$ git status</a:t>
            </a:r>
            <a:br/>
            <a:r>
              <a:t>$ git add .</a:t>
            </a:r>
            <a:br/>
            <a:r>
              <a:t>$ git commit -m 'feat: update module'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6400800"/>
            <a:ext cx="6705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© 2026 By Rikkei Education - All rights reserved.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11277295" y="5943600"/>
            <a:ext cx="914400" cy="914400"/>
          </a:xfrm>
          <a:prstGeom prst="rtTriangle">
            <a:avLst/>
          </a:prstGeom>
          <a:solidFill>
            <a:srgbClr val="BE11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0" y="612648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BE111C"/>
                </a:solidFill>
                <a:latin typeface="Montserrat"/>
              </a:defRPr>
            </a:pPr>
            <a:r>
              <a:t>2. Cấu trúc rẽ nhánh lồng nhau và Chuẩn hóa mã nguồn PEP 8 - 2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Sơ đồ kiến trúc &amp; quy trình vận hành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297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Arial"/>
              </a:defRPr>
            </a:pPr>
            <a:r>
              <a:t>Nguyên lý &amp; Quy chuẩn thực thi</a:t>
            </a:r>
          </a:p>
          <a:p>
            <a:br/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• Nắm vững các bước thao tác thực chiến.</a:t>
            </a:r>
            <a:br/>
            <a:r>
              <a:t>• Tuân thủ nguyên tắc an toàn và kiểm thử mã nguồn trước khi commit.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297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F1F5F9"/>
                </a:solidFill>
                <a:latin typeface="Consolas"/>
              </a:defRPr>
            </a:pPr>
            <a:r>
              <a:t># Thực thi lệnh thực chiến</a:t>
            </a:r>
            <a:br/>
            <a:r>
              <a:t>$ git status</a:t>
            </a:r>
            <a:br/>
            <a:r>
              <a:t>$ git add .</a:t>
            </a:r>
            <a:br/>
            <a:r>
              <a:t>$ git commit -m 'feat: update module'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6400800"/>
            <a:ext cx="6705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© 2026 By Rikkei Education - All rights reserved.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11277295" y="5943600"/>
            <a:ext cx="914400" cy="914400"/>
          </a:xfrm>
          <a:prstGeom prst="rtTriangle">
            <a:avLst/>
          </a:prstGeom>
          <a:solidFill>
            <a:srgbClr val="BE11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0" y="612648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BE111C"/>
                </a:solidFill>
                <a:latin typeface="Montserrat"/>
              </a:defRPr>
            </a:pPr>
            <a:r>
              <a:t>2. Cấu trúc rẽ nhánh lồng nhau và Chuẩn hóa mã nguồn PEP 8 - 3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Lỗi thường gặp &amp; cách xử lý chuẩn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297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F172A"/>
                </a:solidFill>
                <a:latin typeface="Arial"/>
              </a:defRPr>
            </a:pPr>
            <a:r>
              <a:t>Nguyên lý &amp; Quy chuẩn thực thi</a:t>
            </a:r>
          </a:p>
          <a:p>
            <a:br/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• Nắm vững các bước thao tác thực chiến.</a:t>
            </a:r>
            <a:br/>
            <a:r>
              <a:t>• Tuân thủ nguyên tắc an toàn và kiểm thử mã nguồn trước khi commit.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297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F1F5F9"/>
                </a:solidFill>
                <a:latin typeface="Consolas"/>
              </a:defRPr>
            </a:pPr>
            <a:r>
              <a:t># Thực thi lệnh thực chiến</a:t>
            </a:r>
            <a:br/>
            <a:r>
              <a:t>$ git status</a:t>
            </a:r>
            <a:br/>
            <a:r>
              <a:t>$ git add .</a:t>
            </a:r>
            <a:br/>
            <a:r>
              <a:t>$ git commit -m 'feat: update module'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6400800"/>
            <a:ext cx="6705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© 2026 By Rikkei Education - All rights reserved.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11277295" y="5943600"/>
            <a:ext cx="914400" cy="914400"/>
          </a:xfrm>
          <a:prstGeom prst="rtTriangle">
            <a:avLst/>
          </a:prstGeom>
          <a:solidFill>
            <a:srgbClr val="BE11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0" y="612648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BE111C"/>
                </a:solidFill>
                <a:latin typeface="Montserrat"/>
              </a:defRPr>
            </a:pPr>
            <a:r>
              <a:t>TỔNG KẾT BÀI HỌC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✔  Vấn đề thực tế - Hạn chế của quy trình thủ công khi làm việc với (Session 04 - Toán.</a:t>
            </a:r>
          </a:p>
          <a:p>
            <a:pPr>
              <a:spcAft>
                <a:spcPts val="20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✔  Giải pháp áp dụng - Tự động hóa và chuẩn hóa quy trình xử lý mã nguồn/dữ liệu.</a:t>
            </a:r>
          </a:p>
          <a:p>
            <a:pPr>
              <a:spcAft>
                <a:spcPts val="20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✔  Thực hành thành thạo: (Session 04 - Toán tử số học, logic và Cấu trúc rẽ nhánh):.</a:t>
            </a:r>
          </a:p>
          <a:p>
            <a:pPr>
              <a:spcAft>
                <a:spcPts val="20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✔  Thực hành thành thạo: Cấu trúc rẽ nhánh lồng nhau và Chuẩn hóa mã nguồn PEP 8.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6400800"/>
            <a:ext cx="6705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© 2026 By Rikkei Education - All rights reserved.</a:t>
            </a:r>
          </a:p>
        </p:txBody>
      </p:sp>
      <p:sp>
        <p:nvSpPr>
          <p:cNvPr id="5" name="Right Triangle 4"/>
          <p:cNvSpPr/>
          <p:nvPr/>
        </p:nvSpPr>
        <p:spPr>
          <a:xfrm rot="10800000">
            <a:off x="11277295" y="5943600"/>
            <a:ext cx="914400" cy="914400"/>
          </a:xfrm>
          <a:prstGeom prst="rtTriangle">
            <a:avLst/>
          </a:prstGeom>
          <a:solidFill>
            <a:srgbClr val="BE11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126480"/>
            <a:ext cx="6400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