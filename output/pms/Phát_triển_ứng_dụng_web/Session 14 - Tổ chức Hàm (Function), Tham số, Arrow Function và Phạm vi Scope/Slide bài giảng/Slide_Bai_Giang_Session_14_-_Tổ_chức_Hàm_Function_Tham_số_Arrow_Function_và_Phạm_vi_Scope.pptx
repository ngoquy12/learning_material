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notesSlide+xml" PartName="/ppt/notesSlides/notesSlide1.xml"/>
  <Override ContentType="application/vnd.openxmlformats-officedocument.presentationml.slide+xml" PartName="/ppt/slides/slide2.xml"/>
  <Override ContentType="application/vnd.openxmlformats-officedocument.presentationml.notesSlide+xml" PartName="/ppt/notesSlides/notesSlide2.xml"/>
  <Override ContentType="application/vnd.openxmlformats-officedocument.presentationml.slide+xml" PartName="/ppt/slides/slide3.xml"/>
  <Override ContentType="application/vnd.openxmlformats-officedocument.presentationml.notesSlide+xml" PartName="/ppt/notesSlides/notesSlide3.xml"/>
  <Override ContentType="application/vnd.openxmlformats-officedocument.presentationml.slide+xml" PartName="/ppt/slides/slide4.xml"/>
  <Override ContentType="application/vnd.openxmlformats-officedocument.presentationml.notesSlide+xml" PartName="/ppt/notesSlides/notesSlide4.xml"/>
  <Override ContentType="application/vnd.openxmlformats-officedocument.presentationml.slide+xml" PartName="/ppt/slides/slide5.xml"/>
  <Override ContentType="application/vnd.openxmlformats-officedocument.presentationml.notesSlide+xml" PartName="/ppt/notesSlides/notesSlide5.xml"/>
  <Override ContentType="application/vnd.openxmlformats-officedocument.presentationml.slide+xml" PartName="/ppt/slides/slide6.xml"/>
  <Override ContentType="application/vnd.openxmlformats-officedocument.presentationml.notesSlide+xml" PartName="/ppt/notesSlides/notesSlide6.xml"/>
  <Override ContentType="application/vnd.openxmlformats-officedocument.presentationml.slide+xml" PartName="/ppt/slides/slide7.xml"/>
  <Override ContentType="application/vnd.openxmlformats-officedocument.presentationml.notesSlide+xml" PartName="/ppt/notesSlides/notesSlide7.xml"/>
  <Override ContentType="application/vnd.openxmlformats-officedocument.presentationml.slide+xml" PartName="/ppt/slides/slide8.xml"/>
  <Override ContentType="application/vnd.openxmlformats-officedocument.presentationml.notesSlide+xml" PartName="/ppt/notesSlides/notesSlide8.xml"/>
  <Override ContentType="application/vnd.openxmlformats-officedocument.presentationml.slide+xml" PartName="/ppt/slides/slide9.xml"/>
  <Override ContentType="application/vnd.openxmlformats-officedocument.presentationml.notesSlide+xml" PartName="/ppt/notesSlides/notesSlide9.xml"/>
  <Override ContentType="application/vnd.openxmlformats-officedocument.presentationml.slide+xml" PartName="/ppt/slides/slide10.xml"/>
  <Override ContentType="application/vnd.openxmlformats-officedocument.presentationml.notesSlide+xml" PartName="/ppt/notesSlides/notesSlide10.xml"/>
  <Override ContentType="application/vnd.openxmlformats-officedocument.presentationml.slide+xml" PartName="/ppt/slides/slide11.xml"/>
  <Override ContentType="application/vnd.openxmlformats-officedocument.presentationml.notesSlide+xml" PartName="/ppt/notesSlides/notesSlide1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101"/>
    <p:sldId id="257" r:id="rId102"/>
    <p:sldId id="258" r:id="rId103"/>
    <p:sldId id="259" r:id="rId104"/>
    <p:sldId id="260" r:id="rId105"/>
    <p:sldId id="261" r:id="rId106"/>
    <p:sldId id="262" r:id="rId107"/>
    <p:sldId id="263" r:id="rId108"/>
    <p:sldId id="264" r:id="rId109"/>
    <p:sldId id="265" r:id="rId110"/>
    <p:sldId id="266" r:id="rId111"/>
  </p:sldIdLst>
  <p:sldSz cy="6858000" cx="12192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Montserrat Black"/>
      <p:bold r:id="rId14"/>
      <p:boldItalic r:id="rId15"/>
    </p:embeddedFont>
    <p:embeddedFont>
      <p:font typeface="Montserrat Medium"/>
      <p:regular r:id="rId16"/>
      <p:bold r:id="rId17"/>
      <p:italic r:id="rId18"/>
      <p:boldItalic r:id="rId19"/>
    </p:embeddedFont>
    <p:embeddedFont>
      <p:font typeface="Montserrat ExtraBold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2" roundtripDataSignature="AMtx7mirXkCGjZF/d1qb7RGT2S1sXUuH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font" Target="fonts/MontserratExtraBold-bold.fntdata"/><Relationship Id="rId11" Type="http://schemas.openxmlformats.org/officeDocument/2006/relationships/font" Target="fonts/Montserrat-bold.fntdata"/><Relationship Id="rId22" Type="http://customschemas.google.com/relationships/presentationmetadata" Target="metadata"/><Relationship Id="rId10" Type="http://schemas.openxmlformats.org/officeDocument/2006/relationships/font" Target="fonts/Montserrat-regular.fntdata"/><Relationship Id="rId21" Type="http://schemas.openxmlformats.org/officeDocument/2006/relationships/font" Target="fonts/MontserratExtraBold-boldItalic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5" Type="http://schemas.openxmlformats.org/officeDocument/2006/relationships/font" Target="fonts/MontserratBlack-boldItalic.fntdata"/><Relationship Id="rId14" Type="http://schemas.openxmlformats.org/officeDocument/2006/relationships/font" Target="fonts/MontserratBlack-bold.fntdata"/><Relationship Id="rId17" Type="http://schemas.openxmlformats.org/officeDocument/2006/relationships/font" Target="fonts/MontserratMedium-bold.fntdata"/><Relationship Id="rId16" Type="http://schemas.openxmlformats.org/officeDocument/2006/relationships/font" Target="fonts/MontserratMedium-regular.fntdata"/><Relationship Id="rId19" Type="http://schemas.openxmlformats.org/officeDocument/2006/relationships/font" Target="fonts/MontserratMedium-boldItalic.fntdata"/><Relationship Id="rId18" Type="http://schemas.openxmlformats.org/officeDocument/2006/relationships/font" Target="fonts/MontserratMedium-italic.fntdata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  <Relationship Id="rId2" Type="http://schemas.openxmlformats.org/officeDocument/2006/relationships/notesMaster" Target="../notesMasters/notesMaster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  <Relationship Id="rId2" Type="http://schemas.openxmlformats.org/officeDocument/2006/relationships/notesMaster" Target="../notesMasters/notesMaster1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  <Relationship Id="rId2" Type="http://schemas.openxmlformats.org/officeDocument/2006/relationships/notesMaster" Target="../notesMasters/notesMaster1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  <Relationship Id="rId2" Type="http://schemas.openxmlformats.org/officeDocument/2006/relationships/notesMaster" Target="../notesMasters/notesMaster1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  <Relationship Id="rId2" Type="http://schemas.openxmlformats.org/officeDocument/2006/relationships/notesMaster" Target="../notesMasters/notesMaster1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  <Relationship Id="rId2" Type="http://schemas.openxmlformats.org/officeDocument/2006/relationships/notesMaster" Target="../notesMasters/notesMaster1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  <Relationship Id="rId2" Type="http://schemas.openxmlformats.org/officeDocument/2006/relationships/notesMaster" Target="../notesMasters/notesMaster1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  <Relationship Id="rId2" Type="http://schemas.openxmlformats.org/officeDocument/2006/relationships/notesMaster" Target="../notesMasters/notesMaster1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  <Relationship Id="rId2" Type="http://schemas.openxmlformats.org/officeDocument/2006/relationships/notesMaster" Target="../notesMasters/notesMaster1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  <Relationship Id="rId2" Type="http://schemas.openxmlformats.org/officeDocument/2006/relationships/notesMaster" Target="../notesMasters/notesMaster1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  <Relationship Id="rId2" Type="http://schemas.openxmlformats.org/officeDocument/2006/relationships/notesMaster" Target="../notesMasters/notesMaster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Chào mừng các bạn đến với bài giảng Session 14 - Tổ chức Hàm (Function), Tham số, Arrow Function và Phạm vi Scope thuộc khóa học Phát triển ứng dụng web.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Bài giảng hôm nay gồm các phần trọng tâm sau đây.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Mục tiêu bài học giúp các bạn vừa vững lý thuyết vừa tự tin thực hành trên dự án.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Chúng ta cùng tìm hiểu phần Khai báo Hàm (Function Declaration &amp; Expression) qua đoạn code mẫu trên màn hình.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Lưu ý các trường hợp biên để phần mềm hoạt động ổn định nhất.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Chúng ta cùng tìm hiểu phần Cú pháp Arrow Function ES6 và Tham số Mặc định qua đoạn code mẫu trên màn hình.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Lưu ý các trường hợp biên để phần mềm hoạt động ổn định nhất.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Chúng ta cùng tìm hiểu phần Phạm vi Biến Global, Local Scope và Closures qua đoạn code mẫu trên màn hình.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Lưu ý các trường hợp biên để phần mềm hoạt động ổn định nhất.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Ghi nhớ các thuật ngữ này để dễ dàng làm việc trong môi trường doanh nghiệp.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 txBox="1"/>
          <p:nvPr>
            <p:ph type="body" idx="1"/>
          </p:nvPr>
        </p:nvSpPr>
        <p:spPr>
          <a:xfrm>
            <a:off x="685800" y="4457700"/>
            <a:ext cx="5486400" cy="2171700"/>
          </a:xfrm>
          <a:prstGeom prst="rect">
            <a:avLst/>
          </a:prstGeom>
        </p:spPr>
        <p:txBody>
          <a:bodyPr/>
          <a:lstStyle/>
          <a:p>
            <a:pPr indent="0" lvl="0" marL="0" rtl="0" algn="l">
              <a:lnSpc>
                <a:spcPct val="120000"/>
              </a:lnSpc>
              <a:buNone/>
            </a:pPr>
            <a:r>
              <a:rPr lang="vi-VN" sz="1200">
                <a:solidFill>
                  <a:srgbClr val="000000"/>
                </a:solidFill>
                <a:latin typeface="Arial"/>
              </a:rPr>
              <a:t>Cảm ơn các bạn đã theo dõi bài giảng. Chúc các bạn hoàn thành tốt các bài tập thực hành!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2"/>
          <p:cNvSpPr txBox="1"/>
          <p:nvPr>
            <p:ph type="title"/>
          </p:nvPr>
        </p:nvSpPr>
        <p:spPr>
          <a:xfrm rot="5400000">
            <a:off x="-1225840" y="1040275"/>
            <a:ext cx="4164099" cy="1845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Montserrat Black"/>
              <a:buNone/>
              <a:defRPr b="1" sz="6000">
                <a:solidFill>
                  <a:srgbClr val="C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32"/>
          <p:cNvSpPr txBox="1"/>
          <p:nvPr>
            <p:ph idx="1" type="body"/>
          </p:nvPr>
        </p:nvSpPr>
        <p:spPr>
          <a:xfrm>
            <a:off x="2394064" y="2759840"/>
            <a:ext cx="1122220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b="1" sz="6000">
                <a:solidFill>
                  <a:srgbClr val="BE2727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2" type="body"/>
          </p:nvPr>
        </p:nvSpPr>
        <p:spPr>
          <a:xfrm>
            <a:off x="3516284" y="28884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b="1" sz="2000">
                <a:solidFill>
                  <a:srgbClr val="BE2727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3" type="body"/>
          </p:nvPr>
        </p:nvSpPr>
        <p:spPr>
          <a:xfrm>
            <a:off x="2310942" y="4349625"/>
            <a:ext cx="1205342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b="1" sz="6000">
                <a:solidFill>
                  <a:srgbClr val="BE2727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4" type="body"/>
          </p:nvPr>
        </p:nvSpPr>
        <p:spPr>
          <a:xfrm>
            <a:off x="3516284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b="1" sz="2000">
                <a:solidFill>
                  <a:srgbClr val="BE2727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5" type="body"/>
          </p:nvPr>
        </p:nvSpPr>
        <p:spPr>
          <a:xfrm>
            <a:off x="7245926" y="2759840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b="1" sz="6000">
                <a:solidFill>
                  <a:srgbClr val="BE2727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6" type="body"/>
          </p:nvPr>
        </p:nvSpPr>
        <p:spPr>
          <a:xfrm>
            <a:off x="8448502" y="2888427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b="1" sz="2000">
                <a:solidFill>
                  <a:srgbClr val="BE2727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7" type="body"/>
          </p:nvPr>
        </p:nvSpPr>
        <p:spPr>
          <a:xfrm>
            <a:off x="7245926" y="4349625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b="1" sz="6000">
                <a:solidFill>
                  <a:srgbClr val="BE2727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8" type="body"/>
          </p:nvPr>
        </p:nvSpPr>
        <p:spPr>
          <a:xfrm>
            <a:off x="8448502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b="1" sz="2000">
                <a:solidFill>
                  <a:srgbClr val="BE2727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9" type="body"/>
          </p:nvPr>
        </p:nvSpPr>
        <p:spPr>
          <a:xfrm>
            <a:off x="3516283" y="3284445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13" type="body"/>
          </p:nvPr>
        </p:nvSpPr>
        <p:spPr>
          <a:xfrm>
            <a:off x="3516283" y="4874231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4" type="body"/>
          </p:nvPr>
        </p:nvSpPr>
        <p:spPr>
          <a:xfrm>
            <a:off x="8448501" y="3284444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32"/>
          <p:cNvSpPr txBox="1"/>
          <p:nvPr>
            <p:ph idx="15" type="body"/>
          </p:nvPr>
        </p:nvSpPr>
        <p:spPr>
          <a:xfrm>
            <a:off x="8448500" y="48937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1" name="Google Shape;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8"/>
          <p:cNvSpPr txBox="1"/>
          <p:nvPr>
            <p:ph idx="1" type="body"/>
          </p:nvPr>
        </p:nvSpPr>
        <p:spPr>
          <a:xfrm>
            <a:off x="742507" y="1978428"/>
            <a:ext cx="5181600" cy="4019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indent="-310896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Arial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4" name="Google Shape;34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8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38"/>
          <p:cNvSpPr txBox="1"/>
          <p:nvPr>
            <p:ph idx="2" type="body"/>
          </p:nvPr>
        </p:nvSpPr>
        <p:spPr>
          <a:xfrm>
            <a:off x="6267893" y="1978428"/>
            <a:ext cx="5181600" cy="401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indent="-310896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Arial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b="1" sz="2800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9185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34"/>
          <p:cNvSpPr txBox="1"/>
          <p:nvPr>
            <p:ph type="ctrTitle"/>
          </p:nvPr>
        </p:nvSpPr>
        <p:spPr>
          <a:xfrm>
            <a:off x="1697669" y="3351966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 ExtraBold"/>
              <a:buNone/>
              <a:defRPr sz="4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3" name="Google Shape;43;p34"/>
          <p:cNvSpPr txBox="1"/>
          <p:nvPr>
            <p:ph idx="1" type="subTitle"/>
          </p:nvPr>
        </p:nvSpPr>
        <p:spPr>
          <a:xfrm>
            <a:off x="1697669" y="4071966"/>
            <a:ext cx="5041797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ABAB"/>
              </a:buClr>
              <a:buSzPts val="2800"/>
              <a:buNone/>
              <a:defRPr>
                <a:solidFill>
                  <a:srgbClr val="AEABAB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pic>
        <p:nvPicPr>
          <p:cNvPr id="44" name="Google Shape;4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9810" y="1223962"/>
            <a:ext cx="443865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4"/>
          <p:cNvSpPr/>
          <p:nvPr/>
        </p:nvSpPr>
        <p:spPr>
          <a:xfrm rot="5400000">
            <a:off x="-307571" y="2821864"/>
            <a:ext cx="1446414" cy="831272"/>
          </a:xfrm>
          <a:prstGeom prst="triangle">
            <a:avLst>
              <a:gd fmla="val 50000" name="adj"/>
            </a:avLst>
          </a:prstGeom>
          <a:solidFill>
            <a:srgbClr val="BE27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34"/>
          <p:cNvSpPr txBox="1"/>
          <p:nvPr>
            <p:ph idx="2" type="body"/>
          </p:nvPr>
        </p:nvSpPr>
        <p:spPr>
          <a:xfrm>
            <a:off x="1562203" y="1974293"/>
            <a:ext cx="29785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9600"/>
              <a:buNone/>
              <a:defRPr b="0" sz="96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47" name="Google Shape;4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5325" y="5268225"/>
            <a:ext cx="2040576" cy="9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5"/>
          <p:cNvSpPr txBox="1"/>
          <p:nvPr>
            <p:ph type="title"/>
          </p:nvPr>
        </p:nvSpPr>
        <p:spPr>
          <a:xfrm>
            <a:off x="1974966" y="2521987"/>
            <a:ext cx="807635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Montserrat Black"/>
              <a:buNone/>
              <a:defRPr b="1" sz="6000">
                <a:solidFill>
                  <a:srgbClr val="C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0" name="Google Shape;5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9185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5"/>
          <p:cNvSpPr txBox="1"/>
          <p:nvPr>
            <p:ph idx="1" type="body"/>
          </p:nvPr>
        </p:nvSpPr>
        <p:spPr>
          <a:xfrm>
            <a:off x="1989667" y="3847550"/>
            <a:ext cx="807635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 sz="32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35"/>
          <p:cNvSpPr/>
          <p:nvPr/>
        </p:nvSpPr>
        <p:spPr>
          <a:xfrm rot="10800000">
            <a:off x="5289935" y="1559948"/>
            <a:ext cx="1446414" cy="831272"/>
          </a:xfrm>
          <a:prstGeom prst="triangle">
            <a:avLst>
              <a:gd fmla="val 50000" name="adj"/>
            </a:avLst>
          </a:prstGeom>
          <a:solidFill>
            <a:srgbClr val="BE27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3" name="Google Shape;5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2013" y="5255650"/>
            <a:ext cx="2040576" cy="9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6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36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b="1" sz="2800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9" name="Google Shape;5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>
  <p:cSld name="2_Content with Captio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7"/>
          <p:cNvSpPr txBox="1"/>
          <p:nvPr>
            <p:ph idx="1" type="body"/>
          </p:nvPr>
        </p:nvSpPr>
        <p:spPr>
          <a:xfrm>
            <a:off x="3818313" y="3901864"/>
            <a:ext cx="4555374" cy="2169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62" name="Google Shape;6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7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37"/>
          <p:cNvSpPr txBox="1"/>
          <p:nvPr>
            <p:ph idx="2" type="body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  <a:defRPr b="0" sz="32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66" name="Google Shape;66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38200" y="3858704"/>
            <a:ext cx="2860964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/>
          <p:nvPr>
            <p:ph idx="1" type="body"/>
          </p:nvPr>
        </p:nvSpPr>
        <p:spPr>
          <a:xfrm>
            <a:off x="746918" y="3882043"/>
            <a:ext cx="3816769" cy="2169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70" name="Google Shape;70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9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39"/>
          <p:cNvSpPr txBox="1"/>
          <p:nvPr>
            <p:ph idx="2" type="body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  <a:defRPr b="0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74" name="Google Shape;7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9085"/>
            <a:ext cx="12534822" cy="695910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0"/>
          <p:cNvSpPr txBox="1"/>
          <p:nvPr>
            <p:ph type="ctrTitle"/>
          </p:nvPr>
        </p:nvSpPr>
        <p:spPr>
          <a:xfrm>
            <a:off x="2594340" y="3145331"/>
            <a:ext cx="7558961" cy="1515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" type="subTitle"/>
          </p:nvPr>
        </p:nvSpPr>
        <p:spPr>
          <a:xfrm>
            <a:off x="2594340" y="4372481"/>
            <a:ext cx="7558961" cy="1300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79" name="Google Shape;7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4571" y="1362499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41803" y="1422897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1198" y="4951700"/>
            <a:ext cx="2012426" cy="9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11667" y="-83672"/>
            <a:ext cx="12640676" cy="701787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0"/>
          <p:cNvSpPr txBox="1"/>
          <p:nvPr>
            <p:ph type="ctrTitle"/>
          </p:nvPr>
        </p:nvSpPr>
        <p:spPr>
          <a:xfrm>
            <a:off x="279991" y="3969209"/>
            <a:ext cx="9144000" cy="14644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" type="subTitle"/>
          </p:nvPr>
        </p:nvSpPr>
        <p:spPr>
          <a:xfrm>
            <a:off x="279991" y="543362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86" name="Google Shape;8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2381" y="-123349"/>
            <a:ext cx="7133810" cy="709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000" y="322051"/>
            <a:ext cx="3225201" cy="15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1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1" name="Google Shape;9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9085"/>
            <a:ext cx="12534822" cy="695910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1"/>
          <p:cNvSpPr txBox="1"/>
          <p:nvPr>
            <p:ph type="ctrTitle"/>
          </p:nvPr>
        </p:nvSpPr>
        <p:spPr>
          <a:xfrm>
            <a:off x="2594340" y="3145331"/>
            <a:ext cx="7558961" cy="1515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1"/>
          <p:cNvSpPr txBox="1"/>
          <p:nvPr>
            <p:ph idx="1" type="subTitle"/>
          </p:nvPr>
        </p:nvSpPr>
        <p:spPr>
          <a:xfrm>
            <a:off x="2594340" y="4372481"/>
            <a:ext cx="7558961" cy="1300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97" name="Google Shape;9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4571" y="1362499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41803" y="1422897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0423" y="2015275"/>
            <a:ext cx="2012426" cy="9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60713" y="0"/>
            <a:ext cx="12352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3"/>
          <p:cNvSpPr txBox="1"/>
          <p:nvPr>
            <p:ph type="title"/>
          </p:nvPr>
        </p:nvSpPr>
        <p:spPr>
          <a:xfrm rot="5400000">
            <a:off x="-1225840" y="973773"/>
            <a:ext cx="4164099" cy="1845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Black"/>
              <a:buNone/>
              <a:defRPr b="1" sz="60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33"/>
          <p:cNvSpPr txBox="1"/>
          <p:nvPr>
            <p:ph idx="1" type="body"/>
          </p:nvPr>
        </p:nvSpPr>
        <p:spPr>
          <a:xfrm>
            <a:off x="2394064" y="2759840"/>
            <a:ext cx="1122220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b="1" sz="6000">
                <a:solidFill>
                  <a:schemeClr val="lt1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33"/>
          <p:cNvSpPr txBox="1"/>
          <p:nvPr>
            <p:ph idx="2" type="body"/>
          </p:nvPr>
        </p:nvSpPr>
        <p:spPr>
          <a:xfrm>
            <a:off x="3516284" y="28884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b="1" sz="20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33"/>
          <p:cNvSpPr txBox="1"/>
          <p:nvPr>
            <p:ph idx="3" type="body"/>
          </p:nvPr>
        </p:nvSpPr>
        <p:spPr>
          <a:xfrm>
            <a:off x="2310942" y="4349625"/>
            <a:ext cx="1205342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b="1" sz="6000">
                <a:solidFill>
                  <a:schemeClr val="lt1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33"/>
          <p:cNvSpPr txBox="1"/>
          <p:nvPr>
            <p:ph idx="4" type="body"/>
          </p:nvPr>
        </p:nvSpPr>
        <p:spPr>
          <a:xfrm>
            <a:off x="3516284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b="1" sz="20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33"/>
          <p:cNvSpPr txBox="1"/>
          <p:nvPr>
            <p:ph idx="5" type="body"/>
          </p:nvPr>
        </p:nvSpPr>
        <p:spPr>
          <a:xfrm>
            <a:off x="7245926" y="2759840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b="1" sz="6000">
                <a:solidFill>
                  <a:schemeClr val="lt1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3"/>
          <p:cNvSpPr txBox="1"/>
          <p:nvPr>
            <p:ph idx="6" type="body"/>
          </p:nvPr>
        </p:nvSpPr>
        <p:spPr>
          <a:xfrm>
            <a:off x="8448502" y="2888427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b="1" sz="20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33"/>
          <p:cNvSpPr txBox="1"/>
          <p:nvPr>
            <p:ph idx="7" type="body"/>
          </p:nvPr>
        </p:nvSpPr>
        <p:spPr>
          <a:xfrm>
            <a:off x="7245926" y="4349625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b="1" sz="6000">
                <a:solidFill>
                  <a:schemeClr val="lt1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33"/>
          <p:cNvSpPr txBox="1"/>
          <p:nvPr>
            <p:ph idx="8" type="body"/>
          </p:nvPr>
        </p:nvSpPr>
        <p:spPr>
          <a:xfrm>
            <a:off x="8448502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b="1" sz="20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33"/>
          <p:cNvSpPr txBox="1"/>
          <p:nvPr>
            <p:ph idx="9" type="body"/>
          </p:nvPr>
        </p:nvSpPr>
        <p:spPr>
          <a:xfrm>
            <a:off x="3516283" y="3284445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33"/>
          <p:cNvSpPr txBox="1"/>
          <p:nvPr>
            <p:ph idx="13" type="body"/>
          </p:nvPr>
        </p:nvSpPr>
        <p:spPr>
          <a:xfrm>
            <a:off x="3516283" y="4874231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33"/>
          <p:cNvSpPr txBox="1"/>
          <p:nvPr>
            <p:ph idx="14" type="body"/>
          </p:nvPr>
        </p:nvSpPr>
        <p:spPr>
          <a:xfrm>
            <a:off x="8448501" y="3284444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33"/>
          <p:cNvSpPr txBox="1"/>
          <p:nvPr>
            <p:ph idx="15" type="body"/>
          </p:nvPr>
        </p:nvSpPr>
        <p:spPr>
          <a:xfrm>
            <a:off x="8448500" y="48937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16" name="Google Shape;11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5475" y="328227"/>
            <a:ext cx="1809802" cy="88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5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b="1" sz="2800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9" name="Google Shape;119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5"/>
          <p:cNvSpPr txBox="1"/>
          <p:nvPr>
            <p:ph idx="12" type="sldNum"/>
          </p:nvPr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45"/>
          <p:cNvSpPr txBox="1"/>
          <p:nvPr>
            <p:ph idx="1" type="body"/>
          </p:nvPr>
        </p:nvSpPr>
        <p:spPr>
          <a:xfrm>
            <a:off x="838200" y="1680599"/>
            <a:ext cx="10641676" cy="5040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indent="-310896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Courier New"/>
              <a:buChar char="o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23" name="Google Shape;12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6"/>
          <p:cNvSpPr txBox="1"/>
          <p:nvPr>
            <p:ph idx="1" type="body"/>
          </p:nvPr>
        </p:nvSpPr>
        <p:spPr>
          <a:xfrm>
            <a:off x="1695999" y="1566639"/>
            <a:ext cx="3175259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46"/>
          <p:cNvSpPr txBox="1"/>
          <p:nvPr>
            <p:ph idx="2" type="body"/>
          </p:nvPr>
        </p:nvSpPr>
        <p:spPr>
          <a:xfrm>
            <a:off x="7176164" y="1566639"/>
            <a:ext cx="31752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pic>
        <p:nvPicPr>
          <p:cNvPr id="127" name="Google Shape;127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6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46"/>
          <p:cNvSpPr/>
          <p:nvPr/>
        </p:nvSpPr>
        <p:spPr>
          <a:xfrm>
            <a:off x="2199884" y="2284225"/>
            <a:ext cx="2307266" cy="53163"/>
          </a:xfrm>
          <a:prstGeom prst="rect">
            <a:avLst/>
          </a:prstGeom>
          <a:solidFill>
            <a:srgbClr val="BE27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46"/>
          <p:cNvSpPr/>
          <p:nvPr/>
        </p:nvSpPr>
        <p:spPr>
          <a:xfrm>
            <a:off x="7610161" y="2337388"/>
            <a:ext cx="2307266" cy="53163"/>
          </a:xfrm>
          <a:prstGeom prst="rect">
            <a:avLst/>
          </a:prstGeom>
          <a:solidFill>
            <a:srgbClr val="BE27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46"/>
          <p:cNvSpPr txBox="1"/>
          <p:nvPr>
            <p:ph idx="3" type="body"/>
          </p:nvPr>
        </p:nvSpPr>
        <p:spPr>
          <a:xfrm>
            <a:off x="838200" y="2524124"/>
            <a:ext cx="5063836" cy="3832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indent="-310896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Arial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46"/>
          <p:cNvSpPr txBox="1"/>
          <p:nvPr>
            <p:ph idx="4" type="body"/>
          </p:nvPr>
        </p:nvSpPr>
        <p:spPr>
          <a:xfrm>
            <a:off x="6137734" y="2524123"/>
            <a:ext cx="5063836" cy="3832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indent="-310896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Arial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46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b="1" sz="2800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5" name="Google Shape;13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7"/>
          <p:cNvSpPr txBox="1"/>
          <p:nvPr>
            <p:ph idx="1" type="body"/>
          </p:nvPr>
        </p:nvSpPr>
        <p:spPr>
          <a:xfrm>
            <a:off x="838199" y="3672580"/>
            <a:ext cx="3932237" cy="14050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138" name="Google Shape;138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7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47"/>
          <p:cNvSpPr txBox="1"/>
          <p:nvPr>
            <p:ph idx="2" type="body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  <a:defRPr b="0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2" name="Google Shape;142;p47"/>
          <p:cNvSpPr txBox="1"/>
          <p:nvPr>
            <p:ph idx="3" type="body"/>
          </p:nvPr>
        </p:nvSpPr>
        <p:spPr>
          <a:xfrm>
            <a:off x="5170488" y="1346200"/>
            <a:ext cx="6375400" cy="4887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3" name="Google Shape;14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4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4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4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5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g128e061f2de_0_109"/>
          <p:cNvCxnSpPr/>
          <p:nvPr/>
        </p:nvCxnSpPr>
        <p:spPr>
          <a:xfrm>
            <a:off x="575800" y="6322471"/>
            <a:ext cx="11040300" cy="0"/>
          </a:xfrm>
          <a:prstGeom prst="straightConnector1">
            <a:avLst/>
          </a:prstGeom>
          <a:noFill/>
          <a:ln cap="flat" cmpd="sng" w="9525">
            <a:solidFill>
              <a:srgbClr val="C6C5C5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65" name="Google Shape;165;g128e061f2de_0_109"/>
          <p:cNvSpPr txBox="1"/>
          <p:nvPr>
            <p:ph type="title"/>
          </p:nvPr>
        </p:nvSpPr>
        <p:spPr>
          <a:xfrm>
            <a:off x="415600" y="284933"/>
            <a:ext cx="113607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3700"/>
              <a:buFont typeface="Trebuchet MS"/>
              <a:buNone/>
              <a:defRPr>
                <a:solidFill>
                  <a:srgbClr val="56657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cxnSp>
        <p:nvCxnSpPr>
          <p:cNvPr id="166" name="Google Shape;166;g128e061f2de_0_109"/>
          <p:cNvCxnSpPr/>
          <p:nvPr/>
        </p:nvCxnSpPr>
        <p:spPr>
          <a:xfrm>
            <a:off x="575800" y="1002333"/>
            <a:ext cx="11040300" cy="0"/>
          </a:xfrm>
          <a:prstGeom prst="straightConnector1">
            <a:avLst/>
          </a:prstGeom>
          <a:noFill/>
          <a:ln cap="flat" cmpd="sng" w="9525">
            <a:solidFill>
              <a:srgbClr val="C6C5C5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67" name="Google Shape;167;g128e061f2de_0_109">
            <a:hlinkClick action="ppaction://hlinkshowjump?jump=previousslide"/>
          </p:cNvPr>
          <p:cNvSpPr/>
          <p:nvPr/>
        </p:nvSpPr>
        <p:spPr>
          <a:xfrm rot="2700000">
            <a:off x="11348840" y="6420393"/>
            <a:ext cx="113279" cy="113279"/>
          </a:xfrm>
          <a:prstGeom prst="rtTriangle">
            <a:avLst/>
          </a:prstGeom>
          <a:solidFill>
            <a:srgbClr val="C6C5C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128e061f2de_0_109"/>
          <p:cNvSpPr/>
          <p:nvPr/>
        </p:nvSpPr>
        <p:spPr>
          <a:xfrm>
            <a:off x="579075" y="6315167"/>
            <a:ext cx="506400" cy="232800"/>
          </a:xfrm>
          <a:prstGeom prst="rect">
            <a:avLst/>
          </a:prstGeom>
          <a:solidFill>
            <a:srgbClr val="C6C5C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128e061f2de_0_109">
            <a:hlinkClick action="ppaction://hlinkshowjump?jump=nextslide"/>
          </p:cNvPr>
          <p:cNvSpPr/>
          <p:nvPr/>
        </p:nvSpPr>
        <p:spPr>
          <a:xfrm rot="-8100000">
            <a:off x="11508840" y="6420194"/>
            <a:ext cx="113279" cy="113279"/>
          </a:xfrm>
          <a:prstGeom prst="rtTriangle">
            <a:avLst/>
          </a:prstGeom>
          <a:solidFill>
            <a:srgbClr val="C6C5C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128e061f2de_0_109"/>
          <p:cNvSpPr txBox="1"/>
          <p:nvPr>
            <p:ph idx="12" type="sldNum"/>
          </p:nvPr>
        </p:nvSpPr>
        <p:spPr>
          <a:xfrm>
            <a:off x="579067" y="6315167"/>
            <a:ext cx="506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g128e061f2de_0_109"/>
          <p:cNvSpPr txBox="1"/>
          <p:nvPr/>
        </p:nvSpPr>
        <p:spPr>
          <a:xfrm>
            <a:off x="9204248" y="6246912"/>
            <a:ext cx="20436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6C5C5"/>
                </a:solidFill>
                <a:latin typeface="Arial"/>
                <a:ea typeface="Arial"/>
                <a:cs typeface="Arial"/>
                <a:sym typeface="Arial"/>
              </a:rPr>
              <a:t>www.companyname.com</a:t>
            </a:r>
            <a:endParaRPr b="0" i="0" sz="1200" u="none" cap="none" strike="noStrike">
              <a:solidFill>
                <a:srgbClr val="C6C5C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b="0" i="0" sz="4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9"/>
          <p:cNvSpPr txBox="1"/>
          <p:nvPr/>
        </p:nvSpPr>
        <p:spPr>
          <a:xfrm>
            <a:off x="1981200" y="6338813"/>
            <a:ext cx="712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© 2022 By Rikkei Academy - Rikkei Education -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2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3.xml"/>
  <Relationship Id="rId2" Type="http://schemas.openxmlformats.org/officeDocument/2006/relationships/notesSlide" Target="../notesSlides/notesSlide1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itle 1001"/>
          <p:cNvSpPr txBox="1"/>
          <p:nvPr>
            <p:ph type="title"/>
          </p:nvPr>
        </p:nvSpPr>
        <p:spPr>
          <a:xfrm>
            <a:off x="838200" y="2600000"/>
            <a:ext cx="10500000" cy="1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Session 14 - Tổ chức Hàm (Function), Tham số, Arrow Function và Phạm vi Scope</a:t>
            </a:r>
          </a:p>
        </p:txBody>
      </p:sp>
      <p:sp>
        <p:nvSpPr>
          <p:cNvPr id="1002" name="H2_Subtitle_1002"/>
          <p:cNvSpPr txBox="1"/>
          <p:nvPr/>
        </p:nvSpPr>
        <p:spPr>
          <a:xfrm>
            <a:off x="838200" y="4100000"/>
            <a:ext cx="105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Phát triển ứng dụng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Title 1003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Nội Dung Bài Giảng</a:t>
            </a:r>
          </a:p>
        </p:txBody>
      </p:sp>
      <p:sp>
        <p:nvSpPr>
          <p:cNvPr id="1004" name="CardBg_1004"/>
          <p:cNvSpPr/>
          <p:nvPr/>
        </p:nvSpPr>
        <p:spPr>
          <a:xfrm>
            <a:off x="838200" y="1600000"/>
            <a:ext cx="10500000" cy="4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05" name="TextBox_1005"/>
          <p:cNvSpPr txBox="1"/>
          <p:nvPr/>
        </p:nvSpPr>
        <p:spPr>
          <a:xfrm>
            <a:off x="1100000" y="1800000"/>
            <a:ext cx="9900000" cy="4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5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1" i="0" lang="vi-VN" sz="20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Phần 01: </a:t>
            </a:r>
            <a:r>
              <a:rPr b="0" i="0" lang="vi-VN"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Khai báo Hàm (Function Declaration &amp; Expression)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5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1" i="0" lang="vi-VN" sz="20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Phần 02: </a:t>
            </a:r>
            <a:r>
              <a:rPr b="0" i="0" lang="vi-VN"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Cú pháp Arrow Function ES6 và Tham số Mặc định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5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1" i="0" lang="vi-VN" sz="20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Phần 03: </a:t>
            </a:r>
            <a:r>
              <a:rPr b="0" i="0" lang="vi-VN"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Phạm vi Biến Global, Local Scope và Closures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5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1" i="0" lang="vi-VN" sz="20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Phần 04: </a:t>
            </a:r>
            <a:r>
              <a:rPr b="0" i="0" lang="vi-VN"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Tổng kết &amp; Thuật ngữ cốt lõi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Title 1006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Mục Tiêu Bài Học</a:t>
            </a:r>
          </a:p>
        </p:txBody>
      </p:sp>
      <p:sp>
        <p:nvSpPr>
          <p:cNvPr id="1007" name="H2_Subtitle_1007"/>
          <p:cNvSpPr txBox="1"/>
          <p:nvPr/>
        </p:nvSpPr>
        <p:spPr>
          <a:xfrm>
            <a:off x="838200" y="1400000"/>
            <a:ext cx="106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Chuẩn đầu ra kiến thức &amp; kỹ năng</a:t>
            </a:r>
          </a:p>
        </p:txBody>
      </p:sp>
      <p:sp>
        <p:nvSpPr>
          <p:cNvPr id="1008" name="CardBg_1008"/>
          <p:cNvSpPr/>
          <p:nvPr/>
        </p:nvSpPr>
        <p:spPr>
          <a:xfrm>
            <a:off x="838200" y="2000000"/>
            <a:ext cx="33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09" name="TextBox_1009"/>
          <p:cNvSpPr txBox="1"/>
          <p:nvPr/>
        </p:nvSpPr>
        <p:spPr>
          <a:xfrm>
            <a:off x="938200" y="2150000"/>
            <a:ext cx="31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Bản Chất Kỹ Thuật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Nắm vững cơ chế hoạt động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Hiểu luồng dữ liệu chuẩn</a:t>
            </a:r>
          </a:p>
        </p:txBody>
      </p:sp>
      <p:sp>
        <p:nvSpPr>
          <p:cNvPr id="1010" name="CardBg_1010"/>
          <p:cNvSpPr/>
          <p:nvPr/>
        </p:nvSpPr>
        <p:spPr>
          <a:xfrm>
            <a:off x="4438200" y="2000000"/>
            <a:ext cx="33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11" name="TextBox_1011"/>
          <p:cNvSpPr txBox="1"/>
          <p:nvPr/>
        </p:nvSpPr>
        <p:spPr>
          <a:xfrm>
            <a:off x="4538200" y="2150000"/>
            <a:ext cx="31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Thực Hành Ứng Dụng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Viết code đúng chuẩn cú pháp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Triển khai trong domain Hệ thống Quản lý Lưu kho Kiện hàng Warehouse</a:t>
            </a:r>
          </a:p>
        </p:txBody>
      </p:sp>
      <p:sp>
        <p:nvSpPr>
          <p:cNvPr id="1012" name="CardBg_1012"/>
          <p:cNvSpPr/>
          <p:nvPr/>
        </p:nvSpPr>
        <p:spPr>
          <a:xfrm>
            <a:off x="8038200" y="2000000"/>
            <a:ext cx="33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13" name="TextBox_1013"/>
          <p:cNvSpPr txBox="1"/>
          <p:nvPr/>
        </p:nvSpPr>
        <p:spPr>
          <a:xfrm>
            <a:off x="8138200" y="2150000"/>
            <a:ext cx="31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Tối Ưu &amp; Tránh Lỗi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Kiểm soát các trường hợp biên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Đảm bảo hiệu năng hệ thống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Title 1014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1. Khai báo Hàm (Function Declaration &amp; Expression) — 1/2</a:t>
            </a:r>
          </a:p>
        </p:txBody>
      </p:sp>
      <p:sp>
        <p:nvSpPr>
          <p:cNvPr id="1015" name="H2_Subtitle_1015"/>
          <p:cNvSpPr txBox="1"/>
          <p:nvPr/>
        </p:nvSpPr>
        <p:spPr>
          <a:xfrm>
            <a:off x="838200" y="1400000"/>
            <a:ext cx="106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Ứng dụng trong hệ thống Hệ thống Quản lý Lưu kho Kiện hàng Warehouse</a:t>
            </a:r>
          </a:p>
        </p:txBody>
      </p:sp>
      <p:sp>
        <p:nvSpPr>
          <p:cNvPr id="1016" name="CardBg_1016"/>
          <p:cNvSpPr/>
          <p:nvPr/>
        </p:nvSpPr>
        <p:spPr>
          <a:xfrm>
            <a:off x="838200" y="1950000"/>
            <a:ext cx="4800000" cy="44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17" name="TextBox_1017"/>
          <p:cNvSpPr txBox="1"/>
          <p:nvPr/>
        </p:nvSpPr>
        <p:spPr>
          <a:xfrm>
            <a:off x="950000" y="2100000"/>
            <a:ext cx="4550000" cy="4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Nguyên lý vận hành cốt lõi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Cú pháp khai báo và thiết lập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Quy chuẩn đặt tên và clean code</a:t>
            </a:r>
          </a:p>
        </p:txBody>
      </p:sp>
      <p:sp>
        <p:nvSpPr>
          <p:cNvPr id="1018" name="CardBg_1018"/>
          <p:cNvSpPr/>
          <p:nvPr/>
        </p:nvSpPr>
        <p:spPr>
          <a:xfrm>
            <a:off x="5800000" y="1950000"/>
            <a:ext cx="5600000" cy="445000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 w="12700">
            <a:solidFill>
              <a:srgbClr val="D9D9D9"/>
            </a:solidFill>
          </a:ln>
        </p:spPr>
      </p:sp>
      <p:sp>
        <p:nvSpPr>
          <p:cNvPr id="1019" name="TextBox_1019"/>
          <p:cNvSpPr txBox="1"/>
          <p:nvPr/>
        </p:nvSpPr>
        <p:spPr>
          <a:xfrm>
            <a:off x="5900000" y="200000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-VN"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CODE: Mã nguồn JavaScript</a:t>
            </a:r>
          </a:p>
        </p:txBody>
      </p:sp>
      <p:sp>
        <p:nvSpPr>
          <p:cNvPr id="1020" name="TextBox_1020"/>
          <p:cNvSpPr txBox="1"/>
          <p:nvPr/>
        </p:nvSpPr>
        <p:spPr>
          <a:xfrm>
            <a:off x="5900000" y="2370000"/>
            <a:ext cx="5400000" cy="3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1" lang="vi-VN" sz="1400">
                <a:solidFill>
                  <a:srgbClr val="5C6370"/>
                </a:solidFill>
                <a:latin typeface="Consolas"/>
                <a:ea typeface="Consolas"/>
                <a:cs typeface="Consolas"/>
              </a:rPr>
              <a:t>// Demo minh họa Hệ thống Quản lý Lưu kho Kiện hàng Warehouse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i="0" lang="vi-VN" sz="1400">
                <a:solidFill>
                  <a:srgbClr val="C678DD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0" i="0" lang="vi-VN" sz="1400">
                <a:solidFill>
                  <a:srgbClr val="61AFEF"/>
                </a:solidFill>
                <a:latin typeface="Consolas"/>
                <a:ea typeface="Consolas"/>
                <a:cs typeface="Consolas"/>
              </a:rPr>
              <a:t>executeTask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(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)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.</a:t>
            </a:r>
            <a:r>
              <a:rPr b="0" i="0" lang="vi-VN" sz="1400">
                <a:solidFill>
                  <a:srgbClr val="61AFEF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(</a:t>
            </a:r>
            <a:r>
              <a:rPr b="0" i="0" lang="vi-VN" sz="1400">
                <a:solidFill>
                  <a:srgbClr val="98C379"/>
                </a:solidFill>
                <a:latin typeface="Consolas"/>
                <a:ea typeface="Consolas"/>
                <a:cs typeface="Consolas"/>
              </a:rPr>
              <a:t>'Xử lý tác vụ...'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)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b="1" i="0" lang="vi-VN" sz="1400">
                <a:solidFill>
                  <a:srgbClr val="C678DD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Title 1021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1. Khai báo Hàm (Function Declaration &amp; Expression) — 2/2</a:t>
            </a:r>
          </a:p>
        </p:txBody>
      </p:sp>
      <p:sp>
        <p:nvSpPr>
          <p:cNvPr id="1022" name="H2_Subtitle_1022"/>
          <p:cNvSpPr txBox="1"/>
          <p:nvPr/>
        </p:nvSpPr>
        <p:spPr>
          <a:xfrm>
            <a:off x="838200" y="1400000"/>
            <a:ext cx="106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Phân tích tình huống &amp; Thực tiễn</a:t>
            </a:r>
          </a:p>
        </p:txBody>
      </p:sp>
      <p:sp>
        <p:nvSpPr>
          <p:cNvPr id="1023" name="CardBg_1023"/>
          <p:cNvSpPr/>
          <p:nvPr/>
        </p:nvSpPr>
        <p:spPr>
          <a:xfrm>
            <a:off x="838200" y="2000000"/>
            <a:ext cx="51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24" name="TextBox_1024"/>
          <p:cNvSpPr txBox="1"/>
          <p:nvPr/>
        </p:nvSpPr>
        <p:spPr>
          <a:xfrm>
            <a:off x="938200" y="2150000"/>
            <a:ext cx="49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Kịch Bản Chuẩn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Dữ liệu hợp lệ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Luồng xử lý tối ưu</a:t>
            </a:r>
          </a:p>
        </p:txBody>
      </p:sp>
      <p:sp>
        <p:nvSpPr>
          <p:cNvPr id="1025" name="CardBg_1025"/>
          <p:cNvSpPr/>
          <p:nvPr/>
        </p:nvSpPr>
        <p:spPr>
          <a:xfrm>
            <a:off x="6238200" y="2000000"/>
            <a:ext cx="51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26" name="TextBox_1026"/>
          <p:cNvSpPr txBox="1"/>
          <p:nvPr/>
        </p:nvSpPr>
        <p:spPr>
          <a:xfrm>
            <a:off x="6338200" y="2150000"/>
            <a:ext cx="49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Xử Lý Biên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Dữ liệu rỗng / null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Bắt lỗi ngoại lệ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027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2. Cú pháp Arrow Function ES6 và Tham số Mặc định — 1/2</a:t>
            </a:r>
          </a:p>
        </p:txBody>
      </p:sp>
      <p:sp>
        <p:nvSpPr>
          <p:cNvPr id="1028" name="H2_Subtitle_1028"/>
          <p:cNvSpPr txBox="1"/>
          <p:nvPr/>
        </p:nvSpPr>
        <p:spPr>
          <a:xfrm>
            <a:off x="838200" y="1400000"/>
            <a:ext cx="106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Ứng dụng trong hệ thống Hệ thống Quản lý Lưu kho Kiện hàng Warehouse</a:t>
            </a:r>
          </a:p>
        </p:txBody>
      </p:sp>
      <p:sp>
        <p:nvSpPr>
          <p:cNvPr id="1029" name="CardBg_1029"/>
          <p:cNvSpPr/>
          <p:nvPr/>
        </p:nvSpPr>
        <p:spPr>
          <a:xfrm>
            <a:off x="838200" y="1950000"/>
            <a:ext cx="4800000" cy="44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30" name="TextBox_1030"/>
          <p:cNvSpPr txBox="1"/>
          <p:nvPr/>
        </p:nvSpPr>
        <p:spPr>
          <a:xfrm>
            <a:off x="950000" y="2100000"/>
            <a:ext cx="4550000" cy="4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Nguyên lý vận hành cốt lõi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Cú pháp khai báo và thiết lập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Quy chuẩn đặt tên và clean code</a:t>
            </a:r>
          </a:p>
        </p:txBody>
      </p:sp>
      <p:sp>
        <p:nvSpPr>
          <p:cNvPr id="1031" name="CardBg_1031"/>
          <p:cNvSpPr/>
          <p:nvPr/>
        </p:nvSpPr>
        <p:spPr>
          <a:xfrm>
            <a:off x="5800000" y="1950000"/>
            <a:ext cx="5600000" cy="445000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 w="12700">
            <a:solidFill>
              <a:srgbClr val="D9D9D9"/>
            </a:solidFill>
          </a:ln>
        </p:spPr>
      </p:sp>
      <p:sp>
        <p:nvSpPr>
          <p:cNvPr id="1032" name="TextBox_1032"/>
          <p:cNvSpPr txBox="1"/>
          <p:nvPr/>
        </p:nvSpPr>
        <p:spPr>
          <a:xfrm>
            <a:off x="5900000" y="200000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-VN"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CODE: Mã nguồn JavaScript</a:t>
            </a:r>
          </a:p>
        </p:txBody>
      </p:sp>
      <p:sp>
        <p:nvSpPr>
          <p:cNvPr id="1033" name="TextBox_1033"/>
          <p:cNvSpPr txBox="1"/>
          <p:nvPr/>
        </p:nvSpPr>
        <p:spPr>
          <a:xfrm>
            <a:off x="5900000" y="2370000"/>
            <a:ext cx="5400000" cy="3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1" lang="vi-VN" sz="1400">
                <a:solidFill>
                  <a:srgbClr val="5C6370"/>
                </a:solidFill>
                <a:latin typeface="Consolas"/>
                <a:ea typeface="Consolas"/>
                <a:cs typeface="Consolas"/>
              </a:rPr>
              <a:t>// Demo minh họa Hệ thống Quản lý Lưu kho Kiện hàng Warehouse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i="0" lang="vi-VN" sz="1400">
                <a:solidFill>
                  <a:srgbClr val="C678DD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0" i="0" lang="vi-VN" sz="1400">
                <a:solidFill>
                  <a:srgbClr val="61AFEF"/>
                </a:solidFill>
                <a:latin typeface="Consolas"/>
                <a:ea typeface="Consolas"/>
                <a:cs typeface="Consolas"/>
              </a:rPr>
              <a:t>executeTask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(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)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.</a:t>
            </a:r>
            <a:r>
              <a:rPr b="0" i="0" lang="vi-VN" sz="1400">
                <a:solidFill>
                  <a:srgbClr val="61AFEF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(</a:t>
            </a:r>
            <a:r>
              <a:rPr b="0" i="0" lang="vi-VN" sz="1400">
                <a:solidFill>
                  <a:srgbClr val="98C379"/>
                </a:solidFill>
                <a:latin typeface="Consolas"/>
                <a:ea typeface="Consolas"/>
                <a:cs typeface="Consolas"/>
              </a:rPr>
              <a:t>'Xử lý tác vụ...'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)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b="1" i="0" lang="vi-VN" sz="1400">
                <a:solidFill>
                  <a:srgbClr val="C678DD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Title 1034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2. Cú pháp Arrow Function ES6 và Tham số Mặc định — 2/2</a:t>
            </a:r>
          </a:p>
        </p:txBody>
      </p:sp>
      <p:sp>
        <p:nvSpPr>
          <p:cNvPr id="1035" name="H2_Subtitle_1035"/>
          <p:cNvSpPr txBox="1"/>
          <p:nvPr/>
        </p:nvSpPr>
        <p:spPr>
          <a:xfrm>
            <a:off x="838200" y="1400000"/>
            <a:ext cx="106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Phân tích tình huống &amp; Thực tiễn</a:t>
            </a:r>
          </a:p>
        </p:txBody>
      </p:sp>
      <p:sp>
        <p:nvSpPr>
          <p:cNvPr id="1036" name="CardBg_1036"/>
          <p:cNvSpPr/>
          <p:nvPr/>
        </p:nvSpPr>
        <p:spPr>
          <a:xfrm>
            <a:off x="838200" y="2000000"/>
            <a:ext cx="51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37" name="TextBox_1037"/>
          <p:cNvSpPr txBox="1"/>
          <p:nvPr/>
        </p:nvSpPr>
        <p:spPr>
          <a:xfrm>
            <a:off x="938200" y="2150000"/>
            <a:ext cx="49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Kịch Bản Chuẩn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Dữ liệu hợp lệ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Luồng xử lý tối ưu</a:t>
            </a:r>
          </a:p>
        </p:txBody>
      </p:sp>
      <p:sp>
        <p:nvSpPr>
          <p:cNvPr id="1038" name="CardBg_1038"/>
          <p:cNvSpPr/>
          <p:nvPr/>
        </p:nvSpPr>
        <p:spPr>
          <a:xfrm>
            <a:off x="6238200" y="2000000"/>
            <a:ext cx="51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39" name="TextBox_1039"/>
          <p:cNvSpPr txBox="1"/>
          <p:nvPr/>
        </p:nvSpPr>
        <p:spPr>
          <a:xfrm>
            <a:off x="6338200" y="2150000"/>
            <a:ext cx="49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Xử Lý Biên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Dữ liệu rỗng / null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Bắt lỗi ngoại lệ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Title 1040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3. Phạm vi Biến Global, Local Scope và Closures — 1/2</a:t>
            </a:r>
          </a:p>
        </p:txBody>
      </p:sp>
      <p:sp>
        <p:nvSpPr>
          <p:cNvPr id="1041" name="H2_Subtitle_1041"/>
          <p:cNvSpPr txBox="1"/>
          <p:nvPr/>
        </p:nvSpPr>
        <p:spPr>
          <a:xfrm>
            <a:off x="838200" y="1400000"/>
            <a:ext cx="106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Ứng dụng trong hệ thống Hệ thống Quản lý Lưu kho Kiện hàng Warehouse</a:t>
            </a:r>
          </a:p>
        </p:txBody>
      </p:sp>
      <p:sp>
        <p:nvSpPr>
          <p:cNvPr id="1042" name="CardBg_1042"/>
          <p:cNvSpPr/>
          <p:nvPr/>
        </p:nvSpPr>
        <p:spPr>
          <a:xfrm>
            <a:off x="838200" y="1950000"/>
            <a:ext cx="4800000" cy="44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43" name="TextBox_1043"/>
          <p:cNvSpPr txBox="1"/>
          <p:nvPr/>
        </p:nvSpPr>
        <p:spPr>
          <a:xfrm>
            <a:off x="950000" y="2100000"/>
            <a:ext cx="4550000" cy="4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Nguyên lý vận hành cốt lõi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Cú pháp khai báo và thiết lập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Quy chuẩn đặt tên và clean code</a:t>
            </a:r>
          </a:p>
        </p:txBody>
      </p:sp>
      <p:sp>
        <p:nvSpPr>
          <p:cNvPr id="1044" name="CardBg_1044"/>
          <p:cNvSpPr/>
          <p:nvPr/>
        </p:nvSpPr>
        <p:spPr>
          <a:xfrm>
            <a:off x="5800000" y="1950000"/>
            <a:ext cx="5600000" cy="4450000"/>
          </a:xfrm>
          <a:prstGeom prst="roundRect">
            <a:avLst>
              <a:gd name="adj" fmla="val 4000"/>
            </a:avLst>
          </a:prstGeom>
          <a:solidFill>
            <a:srgbClr val="282C34"/>
          </a:solidFill>
          <a:ln w="12700">
            <a:solidFill>
              <a:srgbClr val="D9D9D9"/>
            </a:solidFill>
          </a:ln>
        </p:spPr>
      </p:sp>
      <p:sp>
        <p:nvSpPr>
          <p:cNvPr id="1045" name="TextBox_1045"/>
          <p:cNvSpPr txBox="1"/>
          <p:nvPr/>
        </p:nvSpPr>
        <p:spPr>
          <a:xfrm>
            <a:off x="5900000" y="200000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vi-VN"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CODE: Mã nguồn JavaScript</a:t>
            </a:r>
          </a:p>
        </p:txBody>
      </p:sp>
      <p:sp>
        <p:nvSpPr>
          <p:cNvPr id="1046" name="TextBox_1046"/>
          <p:cNvSpPr txBox="1"/>
          <p:nvPr/>
        </p:nvSpPr>
        <p:spPr>
          <a:xfrm>
            <a:off x="5900000" y="2370000"/>
            <a:ext cx="5400000" cy="3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1" lang="vi-VN" sz="1400">
                <a:solidFill>
                  <a:srgbClr val="5C6370"/>
                </a:solidFill>
                <a:latin typeface="Consolas"/>
                <a:ea typeface="Consolas"/>
                <a:cs typeface="Consolas"/>
              </a:rPr>
              <a:t>// Demo minh họa Hệ thống Quản lý Lưu kho Kiện hàng Warehouse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1" i="0" lang="vi-VN" sz="1400">
                <a:solidFill>
                  <a:srgbClr val="C678DD"/>
                </a:solidFill>
                <a:latin typeface="Consolas"/>
                <a:ea typeface="Consolas"/>
                <a:cs typeface="Consolas"/>
              </a:rPr>
              <a:t>function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0" i="0" lang="vi-VN" sz="1400">
                <a:solidFill>
                  <a:srgbClr val="61AFEF"/>
                </a:solidFill>
                <a:latin typeface="Consolas"/>
                <a:ea typeface="Consolas"/>
                <a:cs typeface="Consolas"/>
              </a:rPr>
              <a:t>executeTask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(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)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console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.</a:t>
            </a:r>
            <a:r>
              <a:rPr b="0" i="0" lang="vi-VN" sz="1400">
                <a:solidFill>
                  <a:srgbClr val="61AFEF"/>
                </a:solidFill>
                <a:latin typeface="Consolas"/>
                <a:ea typeface="Consolas"/>
                <a:cs typeface="Consolas"/>
              </a:rPr>
              <a:t>log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(</a:t>
            </a:r>
            <a:r>
              <a:rPr b="0" i="0" lang="vi-VN" sz="1400">
                <a:solidFill>
                  <a:srgbClr val="98C379"/>
                </a:solidFill>
                <a:latin typeface="Consolas"/>
                <a:ea typeface="Consolas"/>
                <a:cs typeface="Consolas"/>
              </a:rPr>
              <a:t>'Xử lý tác vụ...'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)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 </a:t>
            </a:r>
            <a:r>
              <a:rPr b="1" i="0" lang="vi-VN" sz="1400">
                <a:solidFill>
                  <a:srgbClr val="C678DD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 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indent="0" marL="0" lvl="0" rtl="0" algn="l">
              <a:lnSpc>
                <a:spcPct val="150000"/>
              </a:lnSpc>
              <a:spcBef>
                <a:spcPts val="0"/>
              </a:spcBef>
              <a:spcAft>
                <a:spcPts val="80"/>
              </a:spcAft>
              <a:buNone/>
            </a:pPr>
            <a:r>
              <a:rPr b="0" i="0" lang="vi-VN" sz="1400">
                <a:solidFill>
                  <a:srgbClr val="ABB2B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Title 1047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3. Phạm vi Biến Global, Local Scope và Closures — 2/2</a:t>
            </a:r>
          </a:p>
        </p:txBody>
      </p:sp>
      <p:sp>
        <p:nvSpPr>
          <p:cNvPr id="1048" name="H2_Subtitle_1048"/>
          <p:cNvSpPr txBox="1"/>
          <p:nvPr/>
        </p:nvSpPr>
        <p:spPr>
          <a:xfrm>
            <a:off x="838200" y="1400000"/>
            <a:ext cx="106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Phân tích tình huống &amp; Thực tiễn</a:t>
            </a:r>
          </a:p>
        </p:txBody>
      </p:sp>
      <p:sp>
        <p:nvSpPr>
          <p:cNvPr id="1049" name="CardBg_1049"/>
          <p:cNvSpPr/>
          <p:nvPr/>
        </p:nvSpPr>
        <p:spPr>
          <a:xfrm>
            <a:off x="838200" y="2000000"/>
            <a:ext cx="51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50" name="TextBox_1050"/>
          <p:cNvSpPr txBox="1"/>
          <p:nvPr/>
        </p:nvSpPr>
        <p:spPr>
          <a:xfrm>
            <a:off x="938200" y="2150000"/>
            <a:ext cx="49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Kịch Bản Chuẩn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Dữ liệu hợp lệ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Luồng xử lý tối ưu</a:t>
            </a:r>
          </a:p>
        </p:txBody>
      </p:sp>
      <p:sp>
        <p:nvSpPr>
          <p:cNvPr id="1051" name="CardBg_1051"/>
          <p:cNvSpPr/>
          <p:nvPr/>
        </p:nvSpPr>
        <p:spPr>
          <a:xfrm>
            <a:off x="6238200" y="2000000"/>
            <a:ext cx="51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52" name="TextBox_1052"/>
          <p:cNvSpPr txBox="1"/>
          <p:nvPr/>
        </p:nvSpPr>
        <p:spPr>
          <a:xfrm>
            <a:off x="6338200" y="2150000"/>
            <a:ext cx="49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Xử Lý Biên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Dữ liệu rỗng / null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Bắt lỗi ngoại lệ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Title 1053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Thuật Ngữ Cần Nhớ</a:t>
            </a:r>
          </a:p>
        </p:txBody>
      </p:sp>
      <p:sp>
        <p:nvSpPr>
          <p:cNvPr id="1054" name="H2_Subtitle_1054"/>
          <p:cNvSpPr txBox="1"/>
          <p:nvPr/>
        </p:nvSpPr>
        <p:spPr>
          <a:xfrm>
            <a:off x="838200" y="1400000"/>
            <a:ext cx="1060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Từ khóa kỹ thuật then chốt</a:t>
            </a:r>
          </a:p>
        </p:txBody>
      </p:sp>
      <p:sp>
        <p:nvSpPr>
          <p:cNvPr id="1055" name="CardBg_1055"/>
          <p:cNvSpPr/>
          <p:nvPr/>
        </p:nvSpPr>
        <p:spPr>
          <a:xfrm>
            <a:off x="838200" y="2000000"/>
            <a:ext cx="51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56" name="TextBox_1056"/>
          <p:cNvSpPr txBox="1"/>
          <p:nvPr/>
        </p:nvSpPr>
        <p:spPr>
          <a:xfrm>
            <a:off x="938200" y="2150000"/>
            <a:ext cx="49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API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Giao diện lập trình ứng dụng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Giao tiếp giữa các thành phần</a:t>
            </a:r>
          </a:p>
        </p:txBody>
      </p:sp>
      <p:sp>
        <p:nvSpPr>
          <p:cNvPr id="1057" name="CardBg_1057"/>
          <p:cNvSpPr/>
          <p:nvPr/>
        </p:nvSpPr>
        <p:spPr>
          <a:xfrm>
            <a:off x="6238200" y="2000000"/>
            <a:ext cx="5100000" cy="4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58" name="TextBox_1058"/>
          <p:cNvSpPr txBox="1"/>
          <p:nvPr/>
        </p:nvSpPr>
        <p:spPr>
          <a:xfrm>
            <a:off x="6338200" y="2150000"/>
            <a:ext cx="4900000" cy="4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lvl="0" rtl="0" algn="c">
              <a:lnSpc>
                <a:spcPct val="150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b="1" i="0" lang="vi-VN" sz="1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State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Trạng thái dữ liệu hiện tại</a:t>
            </a:r>
          </a:p>
          <a:p>
            <a:pPr indent="-250000" marL="350000" lv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Clr>
                <a:srgbClr val="C00000"/>
              </a:buClr>
              <a:buSzPts val="1400"/>
              <a:buFont typeface="Arial"/>
              <a:buChar char="●"/>
            </a:pPr>
            <a:r>
              <a:rPr b="0" i="0" lang="vi-VN"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Kích hoạt cập nhật giao diện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Title 1059"/>
          <p:cNvSpPr txBox="1"/>
          <p:nvPr>
            <p:ph type="title"/>
          </p:nvPr>
        </p:nvSpPr>
        <p:spPr>
          <a:xfrm>
            <a:off x="838200" y="280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Chúc Các Bạn Học Tốt!</a:t>
            </a:r>
          </a:p>
        </p:txBody>
      </p:sp>
      <p:sp>
        <p:nvSpPr>
          <p:cNvPr id="1060" name="H2_Subtitle_1060"/>
          <p:cNvSpPr txBox="1"/>
          <p:nvPr/>
        </p:nvSpPr>
        <p:spPr>
          <a:xfrm>
            <a:off x="838200" y="4100000"/>
            <a:ext cx="105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-VN" sz="2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</a:rPr>
              <a:t>Hẹn gặp lại các bạn trong bài giảng tiếp theo.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